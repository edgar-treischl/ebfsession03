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5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63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35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92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87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30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135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472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773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85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28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91259-A7DE-48A8-B78B-F674663B9042}" type="datetimeFigureOut">
              <a:rPr lang="de-DE" smtClean="0"/>
              <a:t>19.04.2021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92D36-AB6C-4BCB-8311-05B94DC6DE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4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85746" y="619446"/>
            <a:ext cx="3395126" cy="811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 algn="ctr">
              <a:buAutoNum type="arabicParenBoth"/>
            </a:pPr>
            <a:r>
              <a:rPr lang="de-DE" sz="2400" dirty="0" smtClean="0"/>
              <a:t>Kollektivmerkmale X</a:t>
            </a:r>
            <a:endParaRPr lang="de-DE" sz="2400" dirty="0"/>
          </a:p>
        </p:txBody>
      </p:sp>
      <p:cxnSp>
        <p:nvCxnSpPr>
          <p:cNvPr id="9" name="Gerade Verbindung mit Pfeil 8"/>
          <p:cNvCxnSpPr>
            <a:endCxn id="34" idx="1"/>
          </p:cNvCxnSpPr>
          <p:nvPr/>
        </p:nvCxnSpPr>
        <p:spPr>
          <a:xfrm flipV="1">
            <a:off x="4016321" y="1025237"/>
            <a:ext cx="3861178" cy="471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stCxn id="4" idx="2"/>
          </p:cNvCxnSpPr>
          <p:nvPr/>
        </p:nvCxnSpPr>
        <p:spPr>
          <a:xfrm>
            <a:off x="2283309" y="1431027"/>
            <a:ext cx="811583" cy="36692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35" idx="3"/>
            <a:endCxn id="36" idx="1"/>
          </p:cNvCxnSpPr>
          <p:nvPr/>
        </p:nvCxnSpPr>
        <p:spPr>
          <a:xfrm>
            <a:off x="4259985" y="5506093"/>
            <a:ext cx="3372405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/>
          <p:nvPr/>
        </p:nvCxnSpPr>
        <p:spPr>
          <a:xfrm flipV="1">
            <a:off x="9263494" y="1431027"/>
            <a:ext cx="453262" cy="378351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Abgerundetes Rechteck 19"/>
          <p:cNvSpPr/>
          <p:nvPr/>
        </p:nvSpPr>
        <p:spPr>
          <a:xfrm>
            <a:off x="1562658" y="2899507"/>
            <a:ext cx="2135136" cy="3661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smtClean="0">
                <a:solidFill>
                  <a:schemeClr val="bg1">
                    <a:lumMod val="50000"/>
                  </a:schemeClr>
                </a:solidFill>
              </a:rPr>
              <a:t>Kontexthypothese</a:t>
            </a:r>
            <a:endParaRPr lang="de-DE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Abgerundetes Rechteck 20"/>
          <p:cNvSpPr/>
          <p:nvPr/>
        </p:nvSpPr>
        <p:spPr>
          <a:xfrm>
            <a:off x="4824137" y="5234012"/>
            <a:ext cx="2266822" cy="5441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smtClean="0">
                <a:solidFill>
                  <a:schemeClr val="bg1">
                    <a:lumMod val="50000"/>
                  </a:schemeClr>
                </a:solidFill>
              </a:rPr>
              <a:t>Individual-hypothese</a:t>
            </a:r>
            <a:endParaRPr lang="de-DE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8494072" y="2965100"/>
            <a:ext cx="2182302" cy="3659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smtClean="0">
                <a:solidFill>
                  <a:schemeClr val="bg1">
                    <a:lumMod val="50000"/>
                  </a:schemeClr>
                </a:solidFill>
              </a:rPr>
              <a:t>Aggregationsregel</a:t>
            </a:r>
            <a:endParaRPr lang="de-DE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4902712" y="838909"/>
            <a:ext cx="2086950" cy="3726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Kollektivhypothese</a:t>
            </a:r>
            <a:endParaRPr lang="de-DE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Ecken des Rechtecks auf der gleichen Seite schneiden 24"/>
          <p:cNvSpPr/>
          <p:nvPr/>
        </p:nvSpPr>
        <p:spPr>
          <a:xfrm>
            <a:off x="0" y="6363855"/>
            <a:ext cx="12192000" cy="494145"/>
          </a:xfrm>
          <a:prstGeom prst="snip2Same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Mikroebene</a:t>
            </a:r>
            <a:endParaRPr lang="de-DE" b="1" dirty="0"/>
          </a:p>
        </p:txBody>
      </p:sp>
      <p:sp>
        <p:nvSpPr>
          <p:cNvPr id="27" name="Abgerundetes Rechteck 26"/>
          <p:cNvSpPr/>
          <p:nvPr/>
        </p:nvSpPr>
        <p:spPr>
          <a:xfrm>
            <a:off x="0" y="-10394"/>
            <a:ext cx="12192000" cy="486066"/>
          </a:xfrm>
          <a:prstGeom prst="round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Makroebene</a:t>
            </a:r>
            <a:endParaRPr lang="de-DE" b="1" dirty="0"/>
          </a:p>
        </p:txBody>
      </p:sp>
      <p:sp>
        <p:nvSpPr>
          <p:cNvPr id="34" name="Rechteck 33"/>
          <p:cNvSpPr/>
          <p:nvPr/>
        </p:nvSpPr>
        <p:spPr>
          <a:xfrm>
            <a:off x="7877499" y="619446"/>
            <a:ext cx="3395126" cy="811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 smtClean="0"/>
              <a:t>(4) Aggregatmerkmal Y</a:t>
            </a:r>
          </a:p>
          <a:p>
            <a:pPr algn="ctr"/>
            <a:r>
              <a:rPr lang="de-DE" sz="2400" dirty="0" smtClean="0"/>
              <a:t>(Sozialstruktur)</a:t>
            </a:r>
            <a:endParaRPr lang="de-DE" sz="2400" dirty="0"/>
          </a:p>
        </p:txBody>
      </p:sp>
      <p:sp>
        <p:nvSpPr>
          <p:cNvPr id="35" name="Rechteck 34"/>
          <p:cNvSpPr/>
          <p:nvPr/>
        </p:nvSpPr>
        <p:spPr>
          <a:xfrm>
            <a:off x="864859" y="5100302"/>
            <a:ext cx="3395126" cy="811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 smtClean="0"/>
              <a:t>(2) Individualmerkmal</a:t>
            </a:r>
          </a:p>
          <a:p>
            <a:pPr algn="ctr"/>
            <a:r>
              <a:rPr lang="de-DE" sz="2400" dirty="0" smtClean="0"/>
              <a:t>(Akteur)</a:t>
            </a:r>
            <a:endParaRPr lang="de-DE" sz="2400" dirty="0"/>
          </a:p>
        </p:txBody>
      </p:sp>
      <p:sp>
        <p:nvSpPr>
          <p:cNvPr id="36" name="Rechteck 35"/>
          <p:cNvSpPr/>
          <p:nvPr/>
        </p:nvSpPr>
        <p:spPr>
          <a:xfrm>
            <a:off x="7632390" y="5100302"/>
            <a:ext cx="3395126" cy="8115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 smtClean="0"/>
              <a:t>(3) Individualmerkmal</a:t>
            </a:r>
          </a:p>
          <a:p>
            <a:pPr algn="ctr"/>
            <a:r>
              <a:rPr lang="de-DE" sz="2400" dirty="0" smtClean="0"/>
              <a:t>(soziales Handeln)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17977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0" y="-10394"/>
            <a:ext cx="12192000" cy="6868394"/>
            <a:chOff x="0" y="-10394"/>
            <a:chExt cx="12192000" cy="6868394"/>
          </a:xfrm>
        </p:grpSpPr>
        <p:sp>
          <p:nvSpPr>
            <p:cNvPr id="4" name="Rechteck 3"/>
            <p:cNvSpPr/>
            <p:nvPr/>
          </p:nvSpPr>
          <p:spPr>
            <a:xfrm>
              <a:off x="585746" y="619446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514350" indent="-514350" algn="ctr">
                <a:buAutoNum type="arabicParenBoth"/>
              </a:pPr>
              <a:r>
                <a:rPr lang="de-DE" sz="2400" dirty="0" smtClean="0"/>
                <a:t>Anzahl an </a:t>
              </a:r>
              <a:r>
                <a:rPr lang="de-DE" sz="2400" dirty="0" err="1" smtClean="0"/>
                <a:t>SuS</a:t>
              </a:r>
              <a:r>
                <a:rPr lang="de-DE" sz="2400" dirty="0" smtClean="0"/>
                <a:t> pro Klasse</a:t>
              </a:r>
              <a:endParaRPr lang="de-DE" sz="2400" dirty="0"/>
            </a:p>
          </p:txBody>
        </p:sp>
        <p:cxnSp>
          <p:nvCxnSpPr>
            <p:cNvPr id="9" name="Gerade Verbindung mit Pfeil 8"/>
            <p:cNvCxnSpPr>
              <a:endCxn id="34" idx="1"/>
            </p:cNvCxnSpPr>
            <p:nvPr/>
          </p:nvCxnSpPr>
          <p:spPr>
            <a:xfrm flipV="1">
              <a:off x="4016321" y="1025237"/>
              <a:ext cx="3861178" cy="4719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Gerade Verbindung mit Pfeil 9"/>
            <p:cNvCxnSpPr>
              <a:stCxn id="4" idx="2"/>
            </p:cNvCxnSpPr>
            <p:nvPr/>
          </p:nvCxnSpPr>
          <p:spPr>
            <a:xfrm>
              <a:off x="2283309" y="1431027"/>
              <a:ext cx="811583" cy="3669275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Gerade Verbindung mit Pfeil 11"/>
            <p:cNvCxnSpPr>
              <a:stCxn id="35" idx="3"/>
              <a:endCxn id="36" idx="1"/>
            </p:cNvCxnSpPr>
            <p:nvPr/>
          </p:nvCxnSpPr>
          <p:spPr>
            <a:xfrm>
              <a:off x="4259985" y="5506093"/>
              <a:ext cx="3372405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Gerade Verbindung mit Pfeil 14"/>
            <p:cNvCxnSpPr/>
            <p:nvPr/>
          </p:nvCxnSpPr>
          <p:spPr>
            <a:xfrm flipV="1">
              <a:off x="9263494" y="1431027"/>
              <a:ext cx="453262" cy="3783511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Abgerundetes Rechteck 19"/>
            <p:cNvSpPr/>
            <p:nvPr/>
          </p:nvSpPr>
          <p:spPr>
            <a:xfrm>
              <a:off x="1562658" y="2899507"/>
              <a:ext cx="2135136" cy="36615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dirty="0" smtClean="0">
                  <a:solidFill>
                    <a:schemeClr val="bg1">
                      <a:lumMod val="50000"/>
                    </a:schemeClr>
                  </a:solidFill>
                </a:rPr>
                <a:t>Kontexthypothese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Abgerundetes Rechteck 20"/>
            <p:cNvSpPr/>
            <p:nvPr/>
          </p:nvSpPr>
          <p:spPr>
            <a:xfrm>
              <a:off x="4824137" y="5234012"/>
              <a:ext cx="2266822" cy="54416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dirty="0" smtClean="0">
                  <a:solidFill>
                    <a:schemeClr val="bg1">
                      <a:lumMod val="50000"/>
                    </a:schemeClr>
                  </a:solidFill>
                </a:rPr>
                <a:t>Individual-hypothese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Abgerundetes Rechteck 21"/>
            <p:cNvSpPr/>
            <p:nvPr/>
          </p:nvSpPr>
          <p:spPr>
            <a:xfrm>
              <a:off x="8494072" y="2965100"/>
              <a:ext cx="2182302" cy="3659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dirty="0" smtClean="0">
                  <a:solidFill>
                    <a:schemeClr val="bg1">
                      <a:lumMod val="50000"/>
                    </a:schemeClr>
                  </a:solidFill>
                </a:rPr>
                <a:t>Aggregationsregel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Abgerundetes Rechteck 22"/>
            <p:cNvSpPr/>
            <p:nvPr/>
          </p:nvSpPr>
          <p:spPr>
            <a:xfrm>
              <a:off x="4902712" y="838909"/>
              <a:ext cx="2086950" cy="372654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>
                  <a:solidFill>
                    <a:schemeClr val="bg1">
                      <a:lumMod val="50000"/>
                    </a:schemeClr>
                  </a:solidFill>
                </a:rPr>
                <a:t>Kollektivhypothese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Ecken des Rechtecks auf der gleichen Seite schneiden 24"/>
            <p:cNvSpPr/>
            <p:nvPr/>
          </p:nvSpPr>
          <p:spPr>
            <a:xfrm>
              <a:off x="0" y="6363855"/>
              <a:ext cx="12192000" cy="494145"/>
            </a:xfrm>
            <a:prstGeom prst="snip2Same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 smtClean="0"/>
                <a:t>Mikroebene</a:t>
              </a:r>
              <a:endParaRPr lang="de-DE" b="1" dirty="0"/>
            </a:p>
          </p:txBody>
        </p:sp>
        <p:sp>
          <p:nvSpPr>
            <p:cNvPr id="27" name="Abgerundetes Rechteck 26"/>
            <p:cNvSpPr/>
            <p:nvPr/>
          </p:nvSpPr>
          <p:spPr>
            <a:xfrm>
              <a:off x="0" y="-10394"/>
              <a:ext cx="12192000" cy="486066"/>
            </a:xfrm>
            <a:prstGeom prst="roundRect">
              <a:avLst/>
            </a:prstGeom>
            <a:solidFill>
              <a:schemeClr val="tx2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 smtClean="0"/>
                <a:t>Makroebene</a:t>
              </a:r>
              <a:endParaRPr lang="de-DE" b="1" dirty="0"/>
            </a:p>
          </p:txBody>
        </p:sp>
        <p:sp>
          <p:nvSpPr>
            <p:cNvPr id="34" name="Rechteck 33"/>
            <p:cNvSpPr/>
            <p:nvPr/>
          </p:nvSpPr>
          <p:spPr>
            <a:xfrm>
              <a:off x="7877499" y="619446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400" dirty="0" smtClean="0"/>
                <a:t>(4) Schulnoten</a:t>
              </a:r>
              <a:endParaRPr lang="de-DE" sz="2400" dirty="0"/>
            </a:p>
          </p:txBody>
        </p:sp>
        <p:sp>
          <p:nvSpPr>
            <p:cNvPr id="35" name="Rechteck 34"/>
            <p:cNvSpPr/>
            <p:nvPr/>
          </p:nvSpPr>
          <p:spPr>
            <a:xfrm>
              <a:off x="864859" y="5100302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400" dirty="0" smtClean="0"/>
                <a:t>(2) Unterrichtsgeschehen</a:t>
              </a:r>
              <a:endParaRPr lang="de-DE" sz="2400" dirty="0"/>
            </a:p>
          </p:txBody>
        </p:sp>
        <p:sp>
          <p:nvSpPr>
            <p:cNvPr id="36" name="Rechteck 35"/>
            <p:cNvSpPr/>
            <p:nvPr/>
          </p:nvSpPr>
          <p:spPr>
            <a:xfrm>
              <a:off x="7632390" y="5100302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400" dirty="0" smtClean="0"/>
                <a:t>(3) Lernprozess in Klassen</a:t>
              </a:r>
              <a:endParaRPr lang="de-D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2056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0" y="-10394"/>
            <a:ext cx="12192000" cy="6868394"/>
            <a:chOff x="0" y="-10394"/>
            <a:chExt cx="12192000" cy="6868394"/>
          </a:xfrm>
        </p:grpSpPr>
        <p:sp>
          <p:nvSpPr>
            <p:cNvPr id="4" name="Rechteck 3"/>
            <p:cNvSpPr/>
            <p:nvPr/>
          </p:nvSpPr>
          <p:spPr>
            <a:xfrm>
              <a:off x="585746" y="619446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de-DE" sz="2400" dirty="0" smtClean="0"/>
                <a:t>(1)</a:t>
              </a:r>
              <a:endParaRPr lang="de-DE" sz="2400" dirty="0"/>
            </a:p>
          </p:txBody>
        </p:sp>
        <p:cxnSp>
          <p:nvCxnSpPr>
            <p:cNvPr id="9" name="Gerade Verbindung mit Pfeil 8"/>
            <p:cNvCxnSpPr>
              <a:endCxn id="34" idx="1"/>
            </p:cNvCxnSpPr>
            <p:nvPr/>
          </p:nvCxnSpPr>
          <p:spPr>
            <a:xfrm flipV="1">
              <a:off x="4016321" y="1025237"/>
              <a:ext cx="3861178" cy="4719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Gerade Verbindung mit Pfeil 9"/>
            <p:cNvCxnSpPr>
              <a:stCxn id="4" idx="2"/>
            </p:cNvCxnSpPr>
            <p:nvPr/>
          </p:nvCxnSpPr>
          <p:spPr>
            <a:xfrm>
              <a:off x="2283309" y="1431027"/>
              <a:ext cx="811583" cy="3669275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Gerade Verbindung mit Pfeil 11"/>
            <p:cNvCxnSpPr>
              <a:stCxn id="35" idx="3"/>
              <a:endCxn id="36" idx="1"/>
            </p:cNvCxnSpPr>
            <p:nvPr/>
          </p:nvCxnSpPr>
          <p:spPr>
            <a:xfrm>
              <a:off x="4259985" y="5506093"/>
              <a:ext cx="3372405" cy="0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Gerade Verbindung mit Pfeil 14"/>
            <p:cNvCxnSpPr/>
            <p:nvPr/>
          </p:nvCxnSpPr>
          <p:spPr>
            <a:xfrm flipV="1">
              <a:off x="9263494" y="1431027"/>
              <a:ext cx="453262" cy="3783511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Abgerundetes Rechteck 19"/>
            <p:cNvSpPr/>
            <p:nvPr/>
          </p:nvSpPr>
          <p:spPr>
            <a:xfrm>
              <a:off x="1562658" y="2899507"/>
              <a:ext cx="2135136" cy="36615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dirty="0" smtClean="0">
                  <a:solidFill>
                    <a:schemeClr val="bg1">
                      <a:lumMod val="50000"/>
                    </a:schemeClr>
                  </a:solidFill>
                </a:rPr>
                <a:t>Kontexthypothese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Abgerundetes Rechteck 20"/>
            <p:cNvSpPr/>
            <p:nvPr/>
          </p:nvSpPr>
          <p:spPr>
            <a:xfrm>
              <a:off x="4824137" y="5234012"/>
              <a:ext cx="2266822" cy="54416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dirty="0" smtClean="0">
                  <a:solidFill>
                    <a:schemeClr val="bg1">
                      <a:lumMod val="50000"/>
                    </a:schemeClr>
                  </a:solidFill>
                </a:rPr>
                <a:t>Individual-hypothese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Abgerundetes Rechteck 21"/>
            <p:cNvSpPr/>
            <p:nvPr/>
          </p:nvSpPr>
          <p:spPr>
            <a:xfrm>
              <a:off x="8494072" y="2965100"/>
              <a:ext cx="2182302" cy="3659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dirty="0" smtClean="0">
                  <a:solidFill>
                    <a:schemeClr val="bg1">
                      <a:lumMod val="50000"/>
                    </a:schemeClr>
                  </a:solidFill>
                </a:rPr>
                <a:t>Aggregationsregel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Abgerundetes Rechteck 22"/>
            <p:cNvSpPr/>
            <p:nvPr/>
          </p:nvSpPr>
          <p:spPr>
            <a:xfrm>
              <a:off x="4902712" y="838909"/>
              <a:ext cx="2086950" cy="372654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>
                  <a:solidFill>
                    <a:schemeClr val="bg1">
                      <a:lumMod val="50000"/>
                    </a:schemeClr>
                  </a:solidFill>
                </a:rPr>
                <a:t>Kollektivhypothese</a:t>
              </a:r>
              <a:endParaRPr lang="de-DE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Ecken des Rechtecks auf der gleichen Seite schneiden 24"/>
            <p:cNvSpPr/>
            <p:nvPr/>
          </p:nvSpPr>
          <p:spPr>
            <a:xfrm>
              <a:off x="0" y="6363855"/>
              <a:ext cx="12192000" cy="494145"/>
            </a:xfrm>
            <a:prstGeom prst="snip2Same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 smtClean="0"/>
                <a:t>Mikroebene</a:t>
              </a:r>
              <a:endParaRPr lang="de-DE" b="1" dirty="0"/>
            </a:p>
          </p:txBody>
        </p:sp>
        <p:sp>
          <p:nvSpPr>
            <p:cNvPr id="27" name="Abgerundetes Rechteck 26"/>
            <p:cNvSpPr/>
            <p:nvPr/>
          </p:nvSpPr>
          <p:spPr>
            <a:xfrm>
              <a:off x="0" y="-10394"/>
              <a:ext cx="12192000" cy="486066"/>
            </a:xfrm>
            <a:prstGeom prst="roundRect">
              <a:avLst/>
            </a:prstGeom>
            <a:solidFill>
              <a:schemeClr val="tx2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 smtClean="0"/>
                <a:t>Makroebene</a:t>
              </a:r>
              <a:endParaRPr lang="de-DE" b="1" dirty="0"/>
            </a:p>
          </p:txBody>
        </p:sp>
        <p:sp>
          <p:nvSpPr>
            <p:cNvPr id="34" name="Rechteck 33"/>
            <p:cNvSpPr/>
            <p:nvPr/>
          </p:nvSpPr>
          <p:spPr>
            <a:xfrm>
              <a:off x="7877499" y="619446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de-DE" sz="2400" dirty="0" smtClean="0"/>
                <a:t>(4)</a:t>
              </a:r>
              <a:endParaRPr lang="de-DE" sz="2400" dirty="0"/>
            </a:p>
          </p:txBody>
        </p:sp>
        <p:sp>
          <p:nvSpPr>
            <p:cNvPr id="35" name="Rechteck 34"/>
            <p:cNvSpPr/>
            <p:nvPr/>
          </p:nvSpPr>
          <p:spPr>
            <a:xfrm>
              <a:off x="864859" y="5100302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de-DE" sz="2400" dirty="0" smtClean="0"/>
                <a:t>(3)</a:t>
              </a:r>
              <a:endParaRPr lang="de-DE" sz="2400" dirty="0"/>
            </a:p>
          </p:txBody>
        </p:sp>
        <p:sp>
          <p:nvSpPr>
            <p:cNvPr id="36" name="Rechteck 35"/>
            <p:cNvSpPr/>
            <p:nvPr/>
          </p:nvSpPr>
          <p:spPr>
            <a:xfrm>
              <a:off x="7632390" y="5100302"/>
              <a:ext cx="3395126" cy="8115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de-DE" sz="2400" dirty="0" smtClean="0"/>
                <a:t>(3)</a:t>
              </a:r>
              <a:endParaRPr lang="de-DE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640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Breitbild</PresentationFormat>
  <Paragraphs>33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>Friedrich-Alexander-Universität Erlangen-Nürnberg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Treischl, Edgar</dc:creator>
  <cp:lastModifiedBy>Treischl, Edgar</cp:lastModifiedBy>
  <cp:revision>6</cp:revision>
  <dcterms:created xsi:type="dcterms:W3CDTF">2021-04-19T14:48:20Z</dcterms:created>
  <dcterms:modified xsi:type="dcterms:W3CDTF">2021-04-19T16:07:39Z</dcterms:modified>
</cp:coreProperties>
</file>